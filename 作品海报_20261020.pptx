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872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98000"/>
            <a:ext cx="10800000" cy="72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基于安路 PH1P35 的实时数字图像处理系统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990000"/>
            <a:ext cx="12240000" cy="72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FD4EA"/>
                </a:solidFill>
                <a:latin typeface="微软雅黑"/>
              </a:rPr>
              <a:t>低延迟 ISP 流水线 ｜ 硬件运动目标检测 ｜ 硬件颜色目标检测 ｜ 零帧级缓存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0000" y="360000"/>
            <a:ext cx="2880000" cy="1152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BFD4EA"/>
                </a:solidFill>
                <a:latin typeface="微软雅黑"/>
              </a:rPr>
              <a:t>全国大学生嵌入式芯片与系统设计竞赛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D4EA"/>
                </a:solidFill>
                <a:latin typeface="微软雅黑"/>
              </a:rPr>
              <a:t>FPGA 创新设计赛道 · 选题二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2160000"/>
            <a:ext cx="6983999" cy="3420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2203200"/>
            <a:ext cx="6840000" cy="288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 · 系统整体框图（四条流水线）</a:t>
            </a:r>
          </a:p>
        </p:txBody>
      </p:sp>
      <p:pic>
        <p:nvPicPr>
          <p:cNvPr id="8" name="Picture 7" descr="系统框图_FPGA数据通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2592000"/>
            <a:ext cx="6983999" cy="43345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000" y="7052514"/>
            <a:ext cx="6983999" cy="108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① 视频输入：SC500CS RAW10 2-lane → MIPI D-PHY RX → CSI 解包 → RAW10 解包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② 图像处理（ISP 域 60 MHz，每拍 4 像素，AXI4-Stream 逐拍握手）：demosaic → 128→96bit → 镜头暗角校正 → 自动白平衡 → 真 S 色调曲线 → 五模式风格化 → 96→128bit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③ 显示：DDR2 帧缓存 → uivtc(720p60) → 7 层 OSD 叠加 → HDMI 1.4b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④ 控制（24 MHz 域）：按键去抖 → 模式选择；AE 闭环状态机 → 经 I2C 写传感器；拨码同步 → 各模块使能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0000" y="2160000"/>
            <a:ext cx="7632000" cy="3420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2000" y="2203200"/>
            <a:ext cx="7488000" cy="288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二 · 自研核心模块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60000" y="2574000"/>
            <a:ext cx="3708000" cy="1745999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0000" y="2646000"/>
            <a:ext cx="3528000" cy="36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A8"/>
                </a:solidFill>
                <a:latin typeface="微软雅黑"/>
              </a:rPr>
              <a:t>镜头色彩暗角校正  lsc.v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0000" y="3060000"/>
            <a:ext cx="3528000" cy="1205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用「白纸靶面 + 带标记物旋转 180°」对照实验，把偏色定位到镜头本身而非白平衡；自行拟合 20×12 二维增益表 + 双线性插值，逐列 R/G 极差下降 43~46%（四次独立复测一致）。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0000" y="4413600"/>
            <a:ext cx="3708000" cy="1745999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0000" y="4485600"/>
            <a:ext cx="3528000" cy="36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A8"/>
                </a:solidFill>
                <a:latin typeface="微软雅黑"/>
              </a:rPr>
              <a:t>自动白平衡  awb.v + wb_recip.v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000" y="4899600"/>
            <a:ext cx="3528000" cy="1205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灰世界 + 倒数查表替代除法器（省 1 700 余 LUT）；发现并修复「增益帧内爬坡」这一真因——增益每拍被部分和改写，导致帧内色偏；改为帧锁存后帧平均校正量第一次达到 0.985/0.983。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0000" y="6253199"/>
            <a:ext cx="3708000" cy="1745999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0000" y="6325199"/>
            <a:ext cx="3528000" cy="36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A8"/>
                </a:solidFill>
                <a:latin typeface="微软雅黑"/>
              </a:rPr>
              <a:t>自动曝光  ae_stat.v + ae_ctrl.v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6739200"/>
            <a:ext cx="3528000" cy="1205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60 MHz 域纯移位加法做帧亮度与高光/暗部统计（零 DSP），24 MHz 域闭环写传感器曝光与模拟增益；模拟增益按 {0x03,0x07,0x0F,0x1F}×0x20~0x3F 两级编码，覆盖 1.000×~15.750×。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8092799"/>
            <a:ext cx="3708000" cy="1745999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0000" y="8164799"/>
            <a:ext cx="3528000" cy="36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CA8"/>
                </a:solidFill>
                <a:latin typeface="微软雅黑"/>
              </a:rPr>
              <a:t>硬件检测  motion_detect.v + obj_detect.v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8578800"/>
            <a:ext cx="3528000" cy="1205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4444"/>
                </a:solidFill>
                <a:latin typeface="微软雅黑"/>
              </a:rPr>
              <a:t>运动检测：16×9 块级帧差，只存 144 字节块均值，无帧缓存。目标检测：同分辨率颜色分块，两帧确认 + 孤立块滤除 + 帧级保持——空场景零误检，目标出现即紧贴描边。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27999" y="2160000"/>
            <a:ext cx="3131999" cy="342000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0000" y="2203200"/>
            <a:ext cx="2987999" cy="288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三 · 关键指标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627999" y="25920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35999" y="26568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1280×720@60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35999" y="28980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分辨率与帧率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627999" y="32328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35999" y="32976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60 fps 零掉帧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5999" y="35388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帧计数与墙钟误差 &lt; 0.3%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27999" y="38736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35999" y="39384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固定流水线级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35999" y="41796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处理延迟不随帧率波动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627999" y="45144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35999" y="45792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0 帧级缓存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35999" y="48204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除 DDR2 缓存的整帧外无额外帧存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627999" y="5155199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35999" y="5219999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Slice 82.24%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35999" y="5461199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17 448 / 21 216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627999" y="5795999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35999" y="5860799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LUT6 77.30%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35999" y="61020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16 400 / 21 216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627999" y="64368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35999" y="65016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ERAM 51/108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35999" y="67428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含 34 块 ISP 行缓存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627999" y="70776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735999" y="71424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DSP 10/40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35999" y="73836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白平衡倒数查表用 2 个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627999" y="7718400"/>
            <a:ext cx="3131999" cy="5832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35999" y="7783200"/>
            <a:ext cx="2916000" cy="288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A4A"/>
                </a:solidFill>
                <a:latin typeface="微软雅黑"/>
              </a:rPr>
              <a:t>Setup WNS +104 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35999" y="8024400"/>
            <a:ext cx="2916000" cy="251999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4444"/>
                </a:solidFill>
                <a:latin typeface="微软雅黑"/>
              </a:rPr>
              <a:t>0 条建立 / 0 条保持违例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627999" y="8550000"/>
            <a:ext cx="3131999" cy="342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700000" y="8593200"/>
            <a:ext cx="2987999" cy="288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四 · 现场可交互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81999" y="8964000"/>
            <a:ext cx="3023999" cy="1080000"/>
          </a:xfrm>
          <a:prstGeom prst="rect">
            <a:avLst/>
          </a:prstGeom>
          <a:noFill/>
        </p:spPr>
        <p:txBody>
          <a:bodyPr wrap="square" anchor="t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  <a:latin typeface="微软雅黑"/>
              </a:rPr>
              <a:t>SW1 暗角校正 · SW2 S 曲线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  <a:latin typeface="微软雅黑"/>
              </a:rPr>
              <a:t>SW3 目标检测 · SW4 检测灵敏度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  <a:latin typeface="微软雅黑"/>
              </a:rPr>
              <a:t>K1 直通 · K2 灰度 · K3 伪彩 · K4 卡通化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44444"/>
                </a:solidFill>
                <a:latin typeface="微软雅黑"/>
              </a:rPr>
              <a:t>长按任一键 ≥1 s = 五段彩条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6B3A"/>
                </a:solidFill>
                <a:latin typeface="微软雅黑"/>
              </a:rPr>
              <a:t>画面实时显示 7 层 OSD 与两行遥测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10206000"/>
            <a:ext cx="15120000" cy="48600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2000" y="10252800"/>
            <a:ext cx="10800000" cy="360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D4EA"/>
                </a:solidFill>
                <a:latin typeface="微软雅黑"/>
              </a:rPr>
              <a:t>全部图像处理算法与控制逻辑均在 FPGA 内以流水线方式自主实现，不含任何额外处理器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60000" y="10252800"/>
            <a:ext cx="3528000" cy="360000"/>
          </a:xfrm>
          <a:prstGeom prst="rect">
            <a:avLst/>
          </a:prstGeom>
          <a:noFill/>
        </p:spPr>
        <p:txBody>
          <a:bodyPr wrap="square" anchor="ctr" lIns="54000" rIns="54000" tIns="36000" bIns="36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FD4EA"/>
                </a:solidFill>
                <a:latin typeface="微软雅黑"/>
              </a:rPr>
              <a:t>TangDynasty V6.2.168116 ｜ PH1P35MDG324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