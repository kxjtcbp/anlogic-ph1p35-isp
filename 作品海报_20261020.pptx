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12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120000" cy="187200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10800000" cy="720000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微软雅黑"/>
              </a:rPr>
              <a:t>基于安路 PH1P35 的实时数字图像处理系统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990000"/>
            <a:ext cx="12240000" cy="720000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BFD4EA"/>
                </a:solidFill>
                <a:latin typeface="微软雅黑"/>
              </a:rPr>
              <a:t>低延迟 ISP 流水线 ｜ 硬件运动目标检测 ｜ 硬件颜色目标检测 ｜ 零帧级缓存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0000" y="360000"/>
            <a:ext cx="2880000" cy="1152000"/>
          </a:xfrm>
          <a:prstGeom prst="rect">
            <a:avLst/>
          </a:prstGeom>
          <a:noFill/>
        </p:spPr>
        <p:txBody>
          <a:bodyPr wrap="square" anchor="ctr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FD4EA"/>
                </a:solidFill>
                <a:latin typeface="微软雅黑"/>
              </a:rPr>
              <a:t>全国大学生嵌入式芯片与系统设计竞赛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BFD4EA"/>
                </a:solidFill>
                <a:latin typeface="微软雅黑"/>
              </a:rPr>
              <a:t>FPGA 创新设计赛道 · 选题二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000" y="2160000"/>
            <a:ext cx="6983999" cy="342000"/>
          </a:xfrm>
          <a:prstGeom prst="rect">
            <a:avLst/>
          </a:prstGeom>
          <a:solidFill>
            <a:srgbClr val="1F5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6000" y="2203200"/>
            <a:ext cx="6840000" cy="288000"/>
          </a:xfrm>
          <a:prstGeom prst="rect">
            <a:avLst/>
          </a:prstGeom>
          <a:noFill/>
        </p:spPr>
        <p:txBody>
          <a:bodyPr wrap="square" anchor="ctr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一 · 系统整体框图（四条流水线）</a:t>
            </a:r>
          </a:p>
        </p:txBody>
      </p:sp>
      <p:pic>
        <p:nvPicPr>
          <p:cNvPr id="8" name="Picture 7" descr="系统框图_FPGA数据通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2592000"/>
            <a:ext cx="6983999" cy="43345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4000" y="7052514"/>
            <a:ext cx="6983999" cy="1080000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r>
              <a:rPr sz="1100"/>
              <a:t>① 视频输入：SC500CS RAW10 2-lane → MIPI D-PHY RX → CSI 解包 → RAW10 解包</a:t>
            </a:r>
          </a:p>
          <a:p>
            <a:r>
              <a:rPr sz="1100"/>
              <a:t>② 图像处理（ISP 域 60 MHz，每拍 4 像素，AXI4-Stream 逐拍握手）：demosaic → 128→96bit → 镜头暗角校正 → 自动白平衡 → 真 S 色调曲线 → 五模式风格化 → 96→128bit</a:t>
            </a:r>
          </a:p>
          <a:p>
            <a:r>
              <a:rPr sz="1100"/>
              <a:t>③ 显示：DDR2 帧缓存 → uivtc(720p60) → 8 层 OSD 叠加 → HDMI 1.4b</a:t>
            </a:r>
          </a:p>
          <a:p>
            <a:r>
              <a:rPr sz="1100"/>
              <a:t>④ 控制（24 MHz 域）：按键去抖 → 模式选择；AE 闭环状态机 → 经 I2C 写传感器；拨码同步 → 各模块使能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60000" y="2160000"/>
            <a:ext cx="7632000" cy="342000"/>
          </a:xfrm>
          <a:prstGeom prst="rect">
            <a:avLst/>
          </a:prstGeom>
          <a:solidFill>
            <a:srgbClr val="1F5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2000" y="2203200"/>
            <a:ext cx="7488000" cy="288000"/>
          </a:xfrm>
          <a:prstGeom prst="rect">
            <a:avLst/>
          </a:prstGeom>
          <a:noFill/>
        </p:spPr>
        <p:txBody>
          <a:bodyPr wrap="square" anchor="ctr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二 · 自研核心模块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60000" y="2574000"/>
            <a:ext cx="3708000" cy="1745999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0000" y="2646000"/>
            <a:ext cx="3528000" cy="360000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5CA8"/>
                </a:solidFill>
                <a:latin typeface="微软雅黑"/>
              </a:rPr>
              <a:t>镜头色彩暗角校正  lsc.v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50000" y="3060000"/>
            <a:ext cx="3528000" cy="1205999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r>
              <a:rPr sz="1100"/>
              <a:t>本来是当白平衡在查。后来铺满白纸、在纸上放个标记物、把相机原地转 180° 再拍一张——暗角跟着画面走、不跟着场景走，这才确认是镜头本身。表是自己拟合的，20×12 个节点，逐列 R/G 极差降了 43~46%，四次独立复测都对得上。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60000" y="4413600"/>
            <a:ext cx="3708000" cy="1745999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0000" y="4485600"/>
            <a:ext cx="3528000" cy="360000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5CA8"/>
                </a:solidFill>
                <a:latin typeface="微软雅黑"/>
              </a:rPr>
              <a:t>自动白平衡  awb.v + wb_recip.v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0000" y="4899600"/>
            <a:ext cx="3528000" cy="1205999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r>
              <a:rPr sz="1100"/>
              <a:t>门级仿真一路查下来才发现：增益每拍都被运行中的部分和改写，整帧是条爬坡线，所以帧平均校正量一直偏低。改成在帧起始那一拍锁存成常量之后，白平衡第一次做到 R/G 0.985、B/G 0.983。顺手把那两路 IP 生成的流水除法器换成倒数查表，省下 1700 多个 LUT。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60000" y="6253199"/>
            <a:ext cx="3708000" cy="1745999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0000" y="6325199"/>
            <a:ext cx="3528000" cy="360000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5CA8"/>
                </a:solidFill>
                <a:latin typeface="微软雅黑"/>
              </a:rPr>
              <a:t>自动曝光  ae_stat.v + ae_ctrl.v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6739200"/>
            <a:ext cx="3528000" cy="1205999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r>
              <a:rPr sz="1100"/>
              <a:t>60MHz 域只用移位加法统计帧亮度和高光、暗部像素，零 DSP；24MHz 域闭环把曝光和模拟增益写回传感器。曝光已经顶到手册上限（2×VTS−10），720p60 下唯一还能连续调的杠杆就剩模拟增益了。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60000" y="8092799"/>
            <a:ext cx="3708000" cy="1745999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50000" y="8164799"/>
            <a:ext cx="3528000" cy="360000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5CA8"/>
                </a:solidFill>
                <a:latin typeface="微软雅黑"/>
              </a:rPr>
              <a:t>硬件检测  motion_detect.v + obj_detect.v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8578800"/>
            <a:ext cx="3528000" cy="1205999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r>
              <a:rPr sz="860"/>
              <a:t>运动检测是块级帧差：跨帧只存 144 个 80×80 块的均值，共 144 字节，不存整帧。目标检测按颜色分块，另加孤立块滤除和 1 秒保持——空场景不出框，目标一进画面就贴边描框。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627999" y="2160000"/>
            <a:ext cx="3131999" cy="342000"/>
          </a:xfrm>
          <a:prstGeom prst="rect">
            <a:avLst/>
          </a:prstGeom>
          <a:solidFill>
            <a:srgbClr val="1F5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0000" y="2203200"/>
            <a:ext cx="2987999" cy="288000"/>
          </a:xfrm>
          <a:prstGeom prst="rect">
            <a:avLst/>
          </a:prstGeom>
          <a:noFill/>
        </p:spPr>
        <p:txBody>
          <a:bodyPr wrap="square" anchor="ctr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三 · 关键指标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627999" y="2592000"/>
            <a:ext cx="3131999" cy="58320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35999" y="2656800"/>
            <a:ext cx="2916000" cy="288000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A4A"/>
                </a:solidFill>
                <a:latin typeface="微软雅黑"/>
              </a:rPr>
              <a:t>1280×720@60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35999" y="2898000"/>
            <a:ext cx="2916000" cy="251999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4444"/>
                </a:solidFill>
                <a:latin typeface="微软雅黑"/>
              </a:rPr>
              <a:t>分辨率与帧率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27999" y="3232800"/>
            <a:ext cx="3131999" cy="58320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35999" y="3297600"/>
            <a:ext cx="2916000" cy="288000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A4A"/>
                </a:solidFill>
                <a:latin typeface="微软雅黑"/>
              </a:rPr>
              <a:t>60 fps 零掉帧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35999" y="3538800"/>
            <a:ext cx="2916000" cy="251999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4444"/>
                </a:solidFill>
                <a:latin typeface="微软雅黑"/>
              </a:rPr>
              <a:t>帧计数与墙钟误差 &lt; 0.3%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627999" y="3873600"/>
            <a:ext cx="3131999" cy="58320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735999" y="3938400"/>
            <a:ext cx="2916000" cy="288000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A4A"/>
                </a:solidFill>
                <a:latin typeface="微软雅黑"/>
              </a:rPr>
              <a:t>固定流水线级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35999" y="4179600"/>
            <a:ext cx="2916000" cy="251999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4444"/>
                </a:solidFill>
                <a:latin typeface="微软雅黑"/>
              </a:rPr>
              <a:t>处理延迟不随帧率波动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627999" y="4514400"/>
            <a:ext cx="3131999" cy="58320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735999" y="4579200"/>
            <a:ext cx="2916000" cy="288000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A4A"/>
                </a:solidFill>
                <a:latin typeface="微软雅黑"/>
              </a:rPr>
              <a:t>0 帧级缓存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735999" y="4820400"/>
            <a:ext cx="2916000" cy="251999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4444"/>
                </a:solidFill>
                <a:latin typeface="微软雅黑"/>
              </a:rPr>
              <a:t>除 DDR2 缓存的整帧外无额外帧存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627999" y="5155199"/>
            <a:ext cx="3131999" cy="58320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735999" y="5219999"/>
            <a:ext cx="2916000" cy="288000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A4A"/>
                </a:solidFill>
                <a:latin typeface="微软雅黑"/>
              </a:rPr>
              <a:t>Slice 82.24%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35999" y="5461199"/>
            <a:ext cx="2916000" cy="251999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4444"/>
                </a:solidFill>
                <a:latin typeface="微软雅黑"/>
              </a:rPr>
              <a:t>17 448 / 21 216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627999" y="5795999"/>
            <a:ext cx="3131999" cy="58320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735999" y="5860799"/>
            <a:ext cx="2916000" cy="288000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A4A"/>
                </a:solidFill>
                <a:latin typeface="微软雅黑"/>
              </a:rPr>
              <a:t>LUT6 77.30%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35999" y="6102000"/>
            <a:ext cx="2916000" cy="251999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4444"/>
                </a:solidFill>
                <a:latin typeface="微软雅黑"/>
              </a:rPr>
              <a:t>16 400 / 21 216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627999" y="6436800"/>
            <a:ext cx="3131999" cy="58320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35999" y="6501600"/>
            <a:ext cx="2916000" cy="288000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A4A"/>
                </a:solidFill>
                <a:latin typeface="微软雅黑"/>
              </a:rPr>
              <a:t>ERAM 51/108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735999" y="6742800"/>
            <a:ext cx="2916000" cy="251999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4444"/>
                </a:solidFill>
                <a:latin typeface="微软雅黑"/>
              </a:rPr>
              <a:t>含 34 块 ISP 行缓存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627999" y="7077600"/>
            <a:ext cx="3131999" cy="58320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735999" y="7142400"/>
            <a:ext cx="2916000" cy="288000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A4A"/>
                </a:solidFill>
                <a:latin typeface="微软雅黑"/>
              </a:rPr>
              <a:t>DSP 10/40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35999" y="7383600"/>
            <a:ext cx="2916000" cy="251999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4444"/>
                </a:solidFill>
                <a:latin typeface="微软雅黑"/>
              </a:rPr>
              <a:t>白平衡倒数查表用 2 个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627999" y="7718400"/>
            <a:ext cx="3131999" cy="583200"/>
          </a:xfrm>
          <a:prstGeom prst="rect">
            <a:avLst/>
          </a:prstGeom>
          <a:solidFill>
            <a:srgbClr val="E8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35999" y="7783200"/>
            <a:ext cx="2916000" cy="288000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A4A"/>
                </a:solidFill>
                <a:latin typeface="微软雅黑"/>
              </a:rPr>
              <a:t>Setup WNS +104 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735999" y="8024400"/>
            <a:ext cx="2916000" cy="251999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4444"/>
                </a:solidFill>
                <a:latin typeface="微软雅黑"/>
              </a:rPr>
              <a:t>0 条建立 / 0 条保持违例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27999" y="8550000"/>
            <a:ext cx="3131999" cy="342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00000" y="8593200"/>
            <a:ext cx="2987999" cy="288000"/>
          </a:xfrm>
          <a:prstGeom prst="rect">
            <a:avLst/>
          </a:prstGeom>
          <a:noFill/>
        </p:spPr>
        <p:txBody>
          <a:bodyPr wrap="square" anchor="ctr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四 · 现场可交互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81999" y="8964000"/>
            <a:ext cx="3023999" cy="1080000"/>
          </a:xfrm>
          <a:prstGeom prst="rect">
            <a:avLst/>
          </a:prstGeom>
          <a:noFill/>
        </p:spPr>
        <p:txBody>
          <a:bodyPr wrap="square" anchor="t" lIns="54000" rIns="54000" tIns="36000" bIns="36000">
            <a:spAutoFit/>
          </a:bodyPr>
          <a:lstStyle/>
          <a:p>
            <a:r>
              <a:rPr sz="1200"/>
              <a:t>SW1 暗角校正 · SW2 S 曲线</a:t>
            </a:r>
          </a:p>
          <a:p>
            <a:r>
              <a:rPr sz="1200"/>
              <a:t>SW3 目标检测 · SW4 检测灵敏度</a:t>
            </a:r>
          </a:p>
          <a:p>
            <a:r>
              <a:rPr sz="1200"/>
              <a:t>K1 直通 · K2 灰度 · K3 伪彩 · K4 卡通化</a:t>
            </a:r>
          </a:p>
          <a:p>
            <a:r>
              <a:rPr sz="1200"/>
              <a:t>长按任一键 ≥1 s = 五段彩条</a:t>
            </a:r>
          </a:p>
          <a:p>
            <a:r>
              <a:rPr sz="1200"/>
              <a:t>画面实时显示 8 层 OSD 与两行遥测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10206000"/>
            <a:ext cx="15120000" cy="48600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2000" y="10252800"/>
            <a:ext cx="10800000" cy="360000"/>
          </a:xfrm>
          <a:prstGeom prst="rect">
            <a:avLst/>
          </a:prstGeom>
          <a:noFill/>
        </p:spPr>
        <p:txBody>
          <a:bodyPr wrap="square" anchor="ctr" lIns="54000" rIns="54000" tIns="36000" bIns="36000">
            <a:spAutoFit/>
          </a:bodyPr>
          <a:lstStyle/>
          <a:p>
            <a:r>
              <a:rPr sz="1300"/>
              <a:t>算法和控制逻辑全部写在 FPGA 里，没有挂任何处理器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60000" y="10252800"/>
            <a:ext cx="3528000" cy="360000"/>
          </a:xfrm>
          <a:prstGeom prst="rect">
            <a:avLst/>
          </a:prstGeom>
          <a:noFill/>
        </p:spPr>
        <p:txBody>
          <a:bodyPr wrap="square" anchor="ctr" lIns="54000" rIns="54000" tIns="36000" bIns="3600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BFD4EA"/>
                </a:solidFill>
                <a:latin typeface="微软雅黑"/>
              </a:rPr>
              <a:t>TangDynasty V6.2.168116 ｜ PH1P35MDG324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